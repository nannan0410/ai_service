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35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75"/>
  </p:normalViewPr>
  <p:slideViewPr>
    <p:cSldViewPr snapToGrid="0" snapToObjects="1">
      <p:cViewPr varScale="1">
        <p:scale>
          <a:sx n="116" d="100"/>
          <a:sy n="116" d="100"/>
        </p:scale>
        <p:origin x="192" y="7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Microsoft YaHei"/>
                <a:ea typeface="Microsoft YaHei"/>
              </a:rPr>
              <a:t>AI AGENT PRODUCT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AI 业务产品介绍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Microsoft YaHei"/>
                <a:ea typeface="Microsoft YaHei"/>
              </a:rPr>
              <a:t>把智能体做成看得见、可交付的业务产品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2793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Part 1  AI 客服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420624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42793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Part 2  ChatBI · 舆情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4178808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Microsoft YaHei"/>
                <a:ea typeface="Microsoft YaHei"/>
              </a:rPr>
              <a:t>Part 3  </a:t>
            </a:r>
            <a:r>
              <a:rPr sz="13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问卷</a:t>
            </a:r>
            <a:r>
              <a:rPr sz="1300" b="1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13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合同审核</a:t>
            </a:r>
            <a:endParaRPr sz="13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参考：ai-desktop.ithongli.cloud  ·  演示可跳转各产品入口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  <a:ea typeface="Microsoft YaHei"/>
              </a:rPr>
              <a:t>目录 ·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icrosoft YaHei"/>
                <a:ea typeface="Microsoft YaHei"/>
              </a:rPr>
              <a:t>三个主题，覆盖 C 端服务、经营洞察与企业内部作业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05840" cy="8229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783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  <a:ea typeface="Microsoft YaHei"/>
              </a:rPr>
              <a:t>AI 客服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945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面向景区 / 乐园的 7×24 智能交易客服
购票 · 导览 · 停车 · 开票 · 二消推荐 · 人工接管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3383280"/>
            <a:ext cx="1005840" cy="82296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54787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337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  <a:ea typeface="Microsoft YaHei"/>
              </a:rPr>
              <a:t>ChatBI &amp; 舆情分析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749040"/>
            <a:ext cx="868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1E293B"/>
                </a:solidFill>
                <a:latin typeface="Microsoft YaHei"/>
                <a:ea typeface="Microsoft YaHei"/>
              </a:rPr>
              <a:t>业务问句直达数据洞察</a:t>
            </a:r>
            <a:r>
              <a:rPr sz="1400" b="0" dirty="0">
                <a:solidFill>
                  <a:srgbClr val="1E293B"/>
                </a:solidFill>
                <a:latin typeface="Microsoft YaHei"/>
                <a:ea typeface="Microsoft YaHei"/>
              </a:rPr>
              <a:t> + </a:t>
            </a:r>
            <a:r>
              <a:rPr sz="1400" b="0" dirty="0" err="1">
                <a:solidFill>
                  <a:srgbClr val="1E293B"/>
                </a:solidFill>
                <a:latin typeface="Microsoft YaHei"/>
                <a:ea typeface="Microsoft YaHei"/>
              </a:rPr>
              <a:t>企业舆情与竞争力沙盘</a:t>
            </a:r>
            <a:r>
              <a:rPr sz="1400" b="0" dirty="0">
                <a:solidFill>
                  <a:srgbClr val="1E293B"/>
                </a:solidFill>
                <a:latin typeface="Microsoft YaHei"/>
                <a:ea typeface="Microsoft YaHei"/>
              </a:rPr>
              <a:t>
</a:t>
            </a:r>
            <a:r>
              <a:rPr sz="1400" b="0" dirty="0" err="1">
                <a:solidFill>
                  <a:srgbClr val="1E293B"/>
                </a:solidFill>
                <a:latin typeface="Microsoft YaHei"/>
                <a:ea typeface="Microsoft YaHei"/>
              </a:rPr>
              <a:t>自动图表</a:t>
            </a:r>
            <a:r>
              <a:rPr sz="1400" b="0" dirty="0">
                <a:solidFill>
                  <a:srgbClr val="1E293B"/>
                </a:solidFill>
                <a:latin typeface="Microsoft YaHei"/>
                <a:ea typeface="Microsoft YaHei"/>
              </a:rPr>
              <a:t> · </a:t>
            </a:r>
            <a:r>
              <a:rPr sz="1400" b="0" dirty="0" err="1">
                <a:solidFill>
                  <a:srgbClr val="1E293B"/>
                </a:solidFill>
                <a:latin typeface="Microsoft YaHei"/>
                <a:ea typeface="Microsoft YaHei"/>
              </a:rPr>
              <a:t>六维分析</a:t>
            </a:r>
            <a:r>
              <a:rPr sz="1400" b="0" dirty="0">
                <a:solidFill>
                  <a:srgbClr val="1E293B"/>
                </a:solidFill>
                <a:latin typeface="Microsoft YaHei"/>
                <a:ea typeface="Microsoft YaHei"/>
              </a:rPr>
              <a:t> · </a:t>
            </a:r>
            <a:r>
              <a:rPr lang="zh-CN" altLang="en-US" sz="1400" b="0" dirty="0">
                <a:solidFill>
                  <a:srgbClr val="1E293B"/>
                </a:solidFill>
                <a:latin typeface="Microsoft YaHei"/>
                <a:ea typeface="Microsoft YaHei"/>
              </a:rPr>
              <a:t>一键生成</a:t>
            </a:r>
            <a:r>
              <a:rPr sz="1400" b="0" dirty="0" err="1">
                <a:solidFill>
                  <a:srgbClr val="1E293B"/>
                </a:solidFill>
                <a:latin typeface="Microsoft YaHei"/>
                <a:ea typeface="Microsoft YaHei"/>
              </a:rPr>
              <a:t>报告</a:t>
            </a:r>
            <a:endParaRPr sz="1400" b="0" dirty="0">
              <a:solidFill>
                <a:srgbClr val="1E293B"/>
              </a:solidFill>
              <a:latin typeface="Microsoft YaHei"/>
              <a:ea typeface="Microsoft YaHe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7240" y="4937760"/>
            <a:ext cx="1005840" cy="8229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10235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892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  <a:ea typeface="Microsoft YaHei"/>
              </a:rPr>
              <a:t>企业问卷 &amp; 合同审核专家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3035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内部调研全闭环 + 合同规则库自动审查
AI 出题 · 360/干部选拔 · 风险分级报告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AI 产品介绍  ·  业务智能体矩阵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EE7B7"/>
                </a:solidFill>
                <a:latin typeface="Microsoft YaHei"/>
                <a:ea typeface="Microsoft YaHei"/>
              </a:rP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</a:rPr>
              <a:t>AI 客服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7F3D0"/>
                </a:solidFill>
                <a:latin typeface="Microsoft YaHei"/>
                <a:ea typeface="Microsoft YaHei"/>
              </a:rPr>
              <a:t>面向景区、乐园的 7×24 智能交易客服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FAE5"/>
                </a:solidFill>
                <a:latin typeface="Microsoft YaHei"/>
                <a:ea typeface="Microsoft YaHei"/>
              </a:rPr>
              <a:t>文旅客服  ·  票务闭环  ·  园内服务  ·  营销转化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59848"/>
            <a:ext cx="20116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Microsoft YaHei"/>
                <a:ea typeface="Microsoft YaHe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  <a:ea typeface="Microsoft YaHei"/>
              </a:rPr>
              <a:t>产品定位：不只是问答，而是可成交的服务链路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游客随时咨询购票、入园、导览、餐饮购物等问题；系统对接票务与园内业务，主动推荐并支持人工接管。</a:t>
            </a:r>
          </a:p>
        </p:txBody>
      </p:sp>
      <p:sp>
        <p:nvSpPr>
          <p:cNvPr id="7" name="Rounded Rectangle 6"/>
          <p:cNvSpPr/>
          <p:nvPr/>
        </p:nvSpPr>
        <p:spPr>
          <a:xfrm rot="10800000">
            <a:off x="548640" y="1737360"/>
            <a:ext cx="3566160" cy="4114800"/>
          </a:xfrm>
          <a:prstGeom prst="round2SameRect">
            <a:avLst>
              <a:gd name="adj1" fmla="val 6411"/>
              <a:gd name="adj2" fmla="val 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56616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0F172A"/>
                </a:solidFill>
                <a:latin typeface="Microsoft YaHei"/>
                <a:ea typeface="Microsoft YaHei"/>
              </a:rPr>
              <a:t>游客侧</a:t>
            </a:r>
            <a:endParaRPr sz="2000" b="1" dirty="0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•  7×24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自然语言咨询</a:t>
            </a:r>
            <a:endParaRPr sz="1500" b="0" dirty="0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• 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购票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领券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订单查询</a:t>
            </a:r>
            <a:endParaRPr sz="1500" b="0" dirty="0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• 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攻略路线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演出推荐</a:t>
            </a:r>
            <a:endParaRPr sz="1500" b="0" dirty="0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• 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停车缴费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开票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打卡</a:t>
            </a:r>
            <a:endParaRPr sz="1500" b="0" dirty="0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 rot="10800000">
            <a:off x="4343400" y="1737360"/>
            <a:ext cx="3566160" cy="4114800"/>
          </a:xfrm>
          <a:prstGeom prst="round2SameRect">
            <a:avLst>
              <a:gd name="adj1" fmla="val 6472"/>
              <a:gd name="adj2" fmla="val 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356616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Microsoft YaHei"/>
                <a:ea typeface="Microsoft YaHei"/>
              </a:rPr>
              <a:t>景区侧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060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• 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提升门票与二消转化</a:t>
            </a:r>
            <a:endParaRPr sz="1500" b="0" dirty="0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• 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降低人工客服压力</a:t>
            </a:r>
            <a:endParaRPr sz="1500" b="0" dirty="0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• 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画像驱动精准推荐</a:t>
            </a:r>
            <a:endParaRPr sz="1500" b="0" dirty="0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• 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配置后台可运营</a:t>
            </a:r>
            <a:endParaRPr sz="1500" b="0" dirty="0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5" name="Rounded Rectangle 14"/>
          <p:cNvSpPr/>
          <p:nvPr/>
        </p:nvSpPr>
        <p:spPr>
          <a:xfrm rot="10800000">
            <a:off x="8138160" y="1737360"/>
            <a:ext cx="3566160" cy="4114800"/>
          </a:xfrm>
          <a:prstGeom prst="round2SameRect">
            <a:avLst>
              <a:gd name="adj1" fmla="val 5855"/>
              <a:gd name="adj2" fmla="val 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737360"/>
            <a:ext cx="356616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Microsoft YaHei"/>
                <a:ea typeface="Microsoft YaHei"/>
              </a:rPr>
              <a:t>能力底座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060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Skill + Workflow 路由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业务卡片同气泡呈现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票务 / 订单接口对接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复杂问题转人工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AI 产品介绍  ·  业务智能体矩阵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59848"/>
            <a:ext cx="20116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2004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 err="1">
                <a:solidFill>
                  <a:srgbClr val="0F172A"/>
                </a:solidFill>
                <a:latin typeface="Microsoft YaHei"/>
                <a:ea typeface="Microsoft YaHei"/>
              </a:rPr>
              <a:t>核心业务场景</a:t>
            </a:r>
            <a:endParaRPr sz="2200" b="1" dirty="0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购票闭环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多轮问人数 / 日期 / 资格确认
→ 票卡推荐 → 下单支付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9728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新客领券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规则识别新客窗口
成功 / 已领 / 非新客分流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417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游玩攻略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9659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出行前规划 + 园内路线
演出 / 排队 / 天气适合度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订单与开票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订单只读查询
单笔 / 批量开发票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7472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3794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停车与打卡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3434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车牌绑定缴费
园区打卡互动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47472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3794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会员与营销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3434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会员权益选品
主动推荐 + 答题发券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AI 产品介绍  ·  业务智能体矩阵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59848"/>
            <a:ext cx="20116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2004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200" b="1" dirty="0">
                <a:solidFill>
                  <a:srgbClr val="0F172A"/>
                </a:solidFill>
                <a:latin typeface="Microsoft YaHei"/>
                <a:ea typeface="Microsoft YaHei"/>
              </a:rPr>
              <a:t>产品价值</a:t>
            </a:r>
            <a:r>
              <a:rPr sz="2200" b="1" dirty="0">
                <a:solidFill>
                  <a:srgbClr val="0F172A"/>
                </a:solidFill>
                <a:latin typeface="Microsoft YaHei"/>
                <a:ea typeface="Microsoft YaHei"/>
              </a:rPr>
              <a:t> &amp; </a:t>
            </a:r>
            <a:r>
              <a:rPr sz="2200" b="1" dirty="0" err="1">
                <a:solidFill>
                  <a:srgbClr val="0F172A"/>
                </a:solidFill>
                <a:latin typeface="Microsoft YaHei"/>
                <a:ea typeface="Microsoft YaHei"/>
              </a:rPr>
              <a:t>演示入口</a:t>
            </a:r>
            <a:endParaRPr sz="2200" b="1" dirty="0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7132320" cy="4572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4A3B8"/>
                </a:solidFill>
                <a:latin typeface="Microsoft YaHei"/>
                <a:ea typeface="Microsoft YaHei"/>
              </a:rPr>
              <a:t>为什么做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6583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 dirty="0">
                <a:solidFill>
                  <a:srgbClr val="0F172A"/>
                </a:solidFill>
                <a:latin typeface="Microsoft YaHei"/>
                <a:ea typeface="Microsoft YaHei"/>
              </a:rPr>
              <a:t>•  </a:t>
            </a:r>
            <a:r>
              <a:rPr sz="16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让景区游客「有问必答</a:t>
            </a:r>
            <a:r>
              <a:rPr sz="1600" b="0" dirty="0">
                <a:solidFill>
                  <a:srgbClr val="0F172A"/>
                </a:solidFill>
                <a:latin typeface="Microsoft YaHei"/>
                <a:ea typeface="Microsoft YaHei"/>
              </a:rPr>
              <a:t>」，</a:t>
            </a:r>
            <a:r>
              <a:rPr sz="16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门票与二消更快成交</a:t>
            </a:r>
            <a:endParaRPr sz="1600" b="0" dirty="0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1400"/>
              </a:spcAft>
            </a:pPr>
            <a:r>
              <a:rPr sz="1600" b="0" dirty="0">
                <a:solidFill>
                  <a:srgbClr val="0F172A"/>
                </a:solidFill>
                <a:latin typeface="Microsoft YaHei"/>
                <a:ea typeface="Microsoft YaHei"/>
              </a:rPr>
              <a:t>•  </a:t>
            </a:r>
            <a:r>
              <a:rPr sz="16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对话即服务：文案</a:t>
            </a:r>
            <a:r>
              <a:rPr sz="1600" b="0" dirty="0">
                <a:solidFill>
                  <a:srgbClr val="0F172A"/>
                </a:solidFill>
                <a:latin typeface="Microsoft YaHei"/>
                <a:ea typeface="Microsoft YaHei"/>
              </a:rPr>
              <a:t> + </a:t>
            </a:r>
            <a:r>
              <a:rPr sz="16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业务卡片</a:t>
            </a:r>
            <a:r>
              <a:rPr sz="1600" b="0" dirty="0">
                <a:solidFill>
                  <a:srgbClr val="0F172A"/>
                </a:solidFill>
                <a:latin typeface="Microsoft YaHei"/>
                <a:ea typeface="Microsoft YaHei"/>
              </a:rPr>
              <a:t> + </a:t>
            </a:r>
            <a:r>
              <a:rPr sz="16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操作按钮同气泡闭环</a:t>
            </a:r>
            <a:endParaRPr sz="1600" b="0" dirty="0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1400"/>
              </a:spcAft>
            </a:pPr>
            <a:r>
              <a:rPr sz="1600" b="0" dirty="0">
                <a:solidFill>
                  <a:srgbClr val="0F172A"/>
                </a:solidFill>
                <a:latin typeface="Microsoft YaHei"/>
                <a:ea typeface="Microsoft YaHei"/>
              </a:rPr>
              <a:t>•  </a:t>
            </a:r>
            <a:r>
              <a:rPr sz="16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可配置运营：助手</a:t>
            </a:r>
            <a:r>
              <a:rPr sz="1600" b="0" dirty="0">
                <a:solidFill>
                  <a:srgbClr val="0F172A"/>
                </a:solidFill>
                <a:latin typeface="Microsoft YaHei"/>
                <a:ea typeface="Microsoft YaHei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UI、Skill</a:t>
            </a:r>
            <a:r>
              <a:rPr sz="1600" b="0" dirty="0">
                <a:solidFill>
                  <a:srgbClr val="0F172A"/>
                </a:solidFill>
                <a:latin typeface="Microsoft YaHei"/>
                <a:ea typeface="Microsoft YaHei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关键词、推荐入口后台可调</a:t>
            </a:r>
            <a:endParaRPr sz="1600" b="0" dirty="0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1400"/>
              </a:spcAft>
            </a:pPr>
            <a:r>
              <a:rPr sz="1600" b="0" dirty="0">
                <a:solidFill>
                  <a:srgbClr val="0F172A"/>
                </a:solidFill>
                <a:latin typeface="Microsoft YaHei"/>
                <a:ea typeface="Microsoft YaHei"/>
              </a:rPr>
              <a:t>•  </a:t>
            </a:r>
            <a:r>
              <a:rPr sz="16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复杂</a:t>
            </a:r>
            <a:r>
              <a:rPr sz="1600" b="0" dirty="0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sz="16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敏感问题一键转人工，保留完整上下文</a:t>
            </a:r>
            <a:endParaRPr sz="1600" b="0" dirty="0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55279" y="105156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EE7B7"/>
                </a:solidFill>
                <a:latin typeface="Microsoft YaHei"/>
                <a:ea typeface="Microsoft YaHei"/>
              </a:rPr>
              <a:t>演示地址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qa.ithongli.com
/ai-assistant/#/login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6576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7F3D0"/>
                </a:solidFill>
                <a:latin typeface="Microsoft YaHei"/>
                <a:ea typeface="Microsoft YaHei"/>
              </a:rPr>
              <a:t>建议演示账号：
· 新用户：领券购票
· 中级：待出行 / 在园
· 高级：开票排队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AI 产品介绍  ·  业务智能体矩阵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Microsoft YaHei"/>
                <a:ea typeface="Microsoft YaHei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ChatBI &amp; 舆情分析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FDBFE"/>
                </a:solidFill>
                <a:latin typeface="Microsoft YaHei"/>
                <a:ea typeface="Microsoft YaHei"/>
              </a:rPr>
              <a:t>业务洞察：数据问答 × 舆情竞争力雷达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59848"/>
            <a:ext cx="20116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PART 2 · ChatBI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面向业务团队的对话式数据分析控制台（Block Studio）。自然语言提问 → Skill/Block 两层路由 → SQL 模板 → 自动图表 + LLM 结论。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Microsoft YaHei"/>
                <a:ea typeface="Microsoft YaHei"/>
              </a:rPr>
              <a:t>核心能力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自然语言提问 + 同会话多轮追问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Skill（业务域）+ Block（分析模块）智能路由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LLM 改写说明：透明展示路由与 SQL 调整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指标卡 / Table / Line / Bar / Pie 自动可视化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会话历史 + 快捷问题 + MD / PDF 导出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30352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Microsoft YaHei"/>
                <a:ea typeface="Microsoft YaHei"/>
              </a:rPr>
              <a:t>适用场景 &amp; 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景区票务 / 渠道销售 / 零售经营高频看数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分析师后台沉淀 Skill / Block / SQL 模板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业务问句越问越准，分析师从拼报表中解放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8463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Microsoft YaHei"/>
                <a:ea typeface="Microsoft YaHei"/>
              </a:rPr>
              <a:t>演示：https://bi.ithongli.cloud/login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AI 产品介绍  ·  业务智能体矩阵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8 / 17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8F3EBE57-53A3-9F87-7603-045F0E694CAC}"/>
              </a:ext>
            </a:extLst>
          </p:cNvPr>
          <p:cNvSpPr txBox="1"/>
          <p:nvPr/>
        </p:nvSpPr>
        <p:spPr>
          <a:xfrm>
            <a:off x="2743200" y="32004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/>
                <a:ea typeface="Microsoft YaHei"/>
              </a:rPr>
              <a:t>业务问句直达数据洞察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59848"/>
            <a:ext cx="20116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Microsoft YaHei"/>
                <a:ea typeface="Microsoft YaHei"/>
              </a:rPr>
              <a:t>PART 2 · </a:t>
            </a:r>
            <a:r>
              <a:rPr sz="12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ChatBI</a:t>
            </a:r>
            <a:endParaRPr sz="12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97280" y="146304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5727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737360"/>
            <a:ext cx="1280160" cy="54864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2103120" cy="2560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输入问句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业务人员在
Block Studio 提问</a:t>
            </a:r>
          </a:p>
        </p:txBody>
      </p:sp>
      <p:sp>
        <p:nvSpPr>
          <p:cNvPr id="12" name="Oval 11"/>
          <p:cNvSpPr/>
          <p:nvPr/>
        </p:nvSpPr>
        <p:spPr>
          <a:xfrm>
            <a:off x="3383280" y="146304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15727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737360"/>
            <a:ext cx="1280160" cy="54864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743200" y="2468880"/>
            <a:ext cx="2103120" cy="2560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8036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智能路由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2918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识别 Skill
再匹配 Block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0" y="146304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0" y="15727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737360"/>
            <a:ext cx="1280160" cy="54864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29200" y="2468880"/>
            <a:ext cx="2103120" cy="2560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6636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执行 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2918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跑模板并抽
时间参数</a:t>
            </a:r>
          </a:p>
        </p:txBody>
      </p:sp>
      <p:sp>
        <p:nvSpPr>
          <p:cNvPr id="24" name="Oval 23"/>
          <p:cNvSpPr/>
          <p:nvPr/>
        </p:nvSpPr>
        <p:spPr>
          <a:xfrm>
            <a:off x="7955280" y="146304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80" y="15727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1737360"/>
            <a:ext cx="1280160" cy="54864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200" y="2468880"/>
            <a:ext cx="2103120" cy="2560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5236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自动可视化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2918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图表 / 指标
/ 表格渲染</a:t>
            </a:r>
          </a:p>
        </p:txBody>
      </p:sp>
      <p:sp>
        <p:nvSpPr>
          <p:cNvPr id="30" name="Oval 29"/>
          <p:cNvSpPr/>
          <p:nvPr/>
        </p:nvSpPr>
        <p:spPr>
          <a:xfrm>
            <a:off x="10241280" y="146304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41280" y="15727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2468880"/>
            <a:ext cx="2103120" cy="2560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3836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LLM 结论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32918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综合结论 +
可追溯说明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交付物：分析工作台 · 多图表 · MD/PDF 导出 · Skill/Block 管理后台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AI 产品介绍  ·  业务智能体矩阵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9 / 17</a:t>
            </a: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F4787D4B-7F9D-CF21-DB5A-8762137C04C2}"/>
              </a:ext>
            </a:extLst>
          </p:cNvPr>
          <p:cNvSpPr txBox="1"/>
          <p:nvPr/>
        </p:nvSpPr>
        <p:spPr>
          <a:xfrm>
            <a:off x="2743200" y="32004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/>
                <a:ea typeface="Microsoft YaHei"/>
              </a:rPr>
              <a:t>工作流：从提问到结论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59848"/>
            <a:ext cx="20116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Microsoft YaHei"/>
                <a:ea typeface="Microsoft YaHei"/>
              </a:rPr>
              <a:t>PART 2 · </a:t>
            </a:r>
            <a:r>
              <a:rPr sz="12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舆情</a:t>
            </a:r>
            <a:endParaRPr sz="12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>
                <a:solidFill>
                  <a:srgbClr val="1E293B"/>
                </a:solidFill>
                <a:latin typeface="Microsoft YaHei"/>
                <a:ea typeface="Microsoft YaHei"/>
              </a:rPr>
              <a:t>对话发起对企业</a:t>
            </a:r>
            <a:r>
              <a:rPr sz="1500" b="0" dirty="0">
                <a:solidFill>
                  <a:srgbClr val="1E293B"/>
                </a:solidFill>
                <a:latin typeface="Microsoft YaHei"/>
                <a:ea typeface="Microsoft YaHei"/>
              </a:rPr>
              <a:t> / </a:t>
            </a:r>
            <a:r>
              <a:rPr sz="1500" b="0" dirty="0" err="1">
                <a:solidFill>
                  <a:srgbClr val="1E293B"/>
                </a:solidFill>
                <a:latin typeface="Microsoft YaHei"/>
                <a:ea typeface="Microsoft YaHei"/>
              </a:rPr>
              <a:t>竞品</a:t>
            </a:r>
            <a:r>
              <a:rPr sz="1500" b="0" dirty="0">
                <a:solidFill>
                  <a:srgbClr val="1E293B"/>
                </a:solidFill>
                <a:latin typeface="Microsoft YaHei"/>
                <a:ea typeface="Microsoft YaHei"/>
              </a:rPr>
              <a:t> / </a:t>
            </a:r>
            <a:r>
              <a:rPr sz="1500" b="0" dirty="0" err="1">
                <a:solidFill>
                  <a:srgbClr val="1E293B"/>
                </a:solidFill>
                <a:latin typeface="Microsoft YaHei"/>
                <a:ea typeface="Microsoft YaHei"/>
              </a:rPr>
              <a:t>行业</a:t>
            </a:r>
            <a:r>
              <a:rPr sz="1500" b="0" dirty="0">
                <a:solidFill>
                  <a:srgbClr val="1E293B"/>
                </a:solidFill>
                <a:latin typeface="Microsoft YaHei"/>
                <a:ea typeface="Microsoft YaHei"/>
              </a:rPr>
              <a:t> / </a:t>
            </a:r>
            <a:r>
              <a:rPr sz="1500" b="0" dirty="0" err="1">
                <a:solidFill>
                  <a:srgbClr val="1E293B"/>
                </a:solidFill>
                <a:latin typeface="Microsoft YaHei"/>
                <a:ea typeface="Microsoft YaHei"/>
              </a:rPr>
              <a:t>政策的深度分析。联网搜索</a:t>
            </a:r>
            <a:r>
              <a:rPr sz="1500" b="0" dirty="0">
                <a:solidFill>
                  <a:srgbClr val="1E293B"/>
                </a:solidFill>
                <a:latin typeface="Microsoft YaHei"/>
                <a:ea typeface="Microsoft YaHei"/>
              </a:rPr>
              <a:t> + </a:t>
            </a:r>
            <a:r>
              <a:rPr sz="1500" b="0" dirty="0" err="1">
                <a:solidFill>
                  <a:srgbClr val="1E293B"/>
                </a:solidFill>
                <a:latin typeface="Microsoft YaHei"/>
                <a:ea typeface="Microsoft YaHei"/>
              </a:rPr>
              <a:t>网页阅读，按六维度结构化输出，一键</a:t>
            </a:r>
            <a:r>
              <a:rPr lang="zh-CN" altLang="en-US" sz="1500" b="0" dirty="0">
                <a:solidFill>
                  <a:srgbClr val="1E293B"/>
                </a:solidFill>
                <a:latin typeface="Microsoft YaHei"/>
                <a:ea typeface="Microsoft YaHei"/>
              </a:rPr>
              <a:t>生成</a:t>
            </a:r>
            <a:r>
              <a:rPr lang="zh-CN" altLang="en-US" sz="1500" dirty="0">
                <a:solidFill>
                  <a:srgbClr val="1E293B"/>
                </a:solidFill>
                <a:latin typeface="Microsoft YaHei"/>
                <a:ea typeface="Microsoft YaHei"/>
              </a:rPr>
              <a:t>报告</a:t>
            </a:r>
            <a:r>
              <a:rPr sz="1500" b="0" dirty="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737360" cy="6400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5CF6"/>
                </a:solidFill>
                <a:latin typeface="Microsoft YaHei"/>
                <a:ea typeface="Microsoft YaHei"/>
              </a:rPr>
              <a:t>市场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59" y="1645920"/>
            <a:ext cx="1737360" cy="6400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3159" y="175564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5CF6"/>
                </a:solidFill>
                <a:latin typeface="Microsoft YaHei"/>
                <a:ea typeface="Microsoft YaHei"/>
              </a:rPr>
              <a:t>产品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8" y="1645920"/>
            <a:ext cx="1737360" cy="6400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8" y="175564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5CF6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197" y="1645920"/>
            <a:ext cx="1737360" cy="6400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197" y="175564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5CF6"/>
                </a:solidFill>
                <a:latin typeface="Microsoft YaHei"/>
                <a:ea typeface="Microsoft YaHei"/>
              </a:rPr>
              <a:t>财务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6" y="1645920"/>
            <a:ext cx="1737360" cy="6400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6" y="175564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5CF6"/>
                </a:solidFill>
                <a:latin typeface="Microsoft YaHei"/>
                <a:ea typeface="Microsoft YaHei"/>
              </a:rPr>
              <a:t>舆论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21235" y="1645920"/>
            <a:ext cx="1737360" cy="6400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21235" y="175564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5CF6"/>
                </a:solidFill>
                <a:latin typeface="Microsoft YaHei"/>
                <a:ea typeface="Microsoft YaHei"/>
              </a:rPr>
              <a:t>政策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560320"/>
            <a:ext cx="11064240" cy="3200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Microsoft YaHei"/>
                <a:ea typeface="Microsoft YaHei"/>
              </a:rPr>
              <a:t>能力要点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0"/>
            <a:ext cx="1051560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• 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对话式入口：单企业舆情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竞品对标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行业趋势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政策法规</a:t>
            </a:r>
            <a:endParaRPr sz="1500" b="0" dirty="0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• 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联网搜索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 +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网页深读，标注信息来源与时间，区分事实与推测</a:t>
            </a:r>
            <a:endParaRPr sz="1500" b="0" dirty="0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• 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结构化输出：对比表格、高亮量化观点、分点结论</a:t>
            </a:r>
            <a:endParaRPr sz="1500" b="0" dirty="0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• 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记忆库沉淀关注公司、分析偏好与历史结论，越用越懂你</a:t>
            </a:r>
            <a:endParaRPr sz="1500" b="0" dirty="0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</a:rPr>
              <a:t>• 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</a:rPr>
              <a:t>一键生成报告，归档至「我的报告」便于分发</a:t>
            </a:r>
            <a:endParaRPr sz="1500" b="0" dirty="0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AI 产品介绍  ·  业务智能体矩阵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10 / 17</a:t>
            </a: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5EFAFDB0-DA4F-5B2E-EAE5-4275F6BD6866}"/>
              </a:ext>
            </a:extLst>
          </p:cNvPr>
          <p:cNvSpPr txBox="1"/>
          <p:nvPr/>
        </p:nvSpPr>
        <p:spPr>
          <a:xfrm>
            <a:off x="2743200" y="32004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/>
                <a:ea typeface="Microsoft YaHei"/>
              </a:rPr>
              <a:t>舆情及竞争力分析沙盘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59848"/>
            <a:ext cx="20116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PART 2 · 舆情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7132320" cy="4572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Microsoft YaHei"/>
                <a:ea typeface="Microsoft YaHei"/>
              </a:rPr>
              <a:t>五步闭环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提出企业 / 竞品 / 行业 / 政策分析需求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web_search 多关键词检索 + web_fetch 深读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六维度对照，标注来源与时间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生成结构化结论（表 + 列表 + 高亮）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导出 DOCX 或继续追问深化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8" y="1097280"/>
            <a:ext cx="3657601" cy="4572000"/>
          </a:xfrm>
          <a:prstGeom prst="roundRect">
            <a:avLst>
              <a:gd name="adj" fmla="val 8000"/>
            </a:avLst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8" y="1463040"/>
            <a:ext cx="3200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E9D5FF"/>
                </a:solidFill>
                <a:latin typeface="Microsoft YaHei"/>
                <a:ea typeface="Microsoft YaHei"/>
              </a:rPr>
              <a:t>适用团队</a:t>
            </a:r>
            <a:endParaRPr sz="1400" b="1" dirty="0">
              <a:solidFill>
                <a:srgbClr val="E9D5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8" y="2011680"/>
            <a:ext cx="3200402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dirty="0">
                <a:solidFill>
                  <a:srgbClr val="FFFFFF"/>
                </a:solidFill>
                <a:latin typeface="Microsoft YaHei"/>
                <a:ea typeface="Microsoft YaHei"/>
              </a:rPr>
              <a:t>•  </a:t>
            </a:r>
            <a:r>
              <a:rPr sz="14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市场情报</a:t>
            </a:r>
            <a:r>
              <a:rPr sz="1400" b="0" dirty="0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sz="14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品牌舆情</a:t>
            </a:r>
            <a:endParaRPr sz="1400" b="0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1000"/>
              </a:spcAft>
            </a:pPr>
            <a:r>
              <a:rPr sz="1400" b="0" dirty="0">
                <a:solidFill>
                  <a:srgbClr val="FFFFFF"/>
                </a:solidFill>
                <a:latin typeface="Microsoft YaHei"/>
                <a:ea typeface="Microsoft YaHei"/>
              </a:rPr>
              <a:t>•  </a:t>
            </a:r>
            <a:r>
              <a:rPr sz="14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竞品对标</a:t>
            </a:r>
            <a:r>
              <a:rPr sz="1400" b="0" dirty="0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sz="14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行业究</a:t>
            </a:r>
            <a:endParaRPr sz="1400" b="0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1000"/>
              </a:spcAft>
            </a:pPr>
            <a:r>
              <a:rPr sz="1400" b="0" dirty="0">
                <a:solidFill>
                  <a:srgbClr val="FFFFFF"/>
                </a:solidFill>
                <a:latin typeface="Microsoft YaHei"/>
                <a:ea typeface="Microsoft YaHei"/>
              </a:rPr>
              <a:t>•  </a:t>
            </a:r>
            <a:r>
              <a:rPr sz="14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政策解读</a:t>
            </a:r>
            <a:r>
              <a:rPr sz="1400" b="0" dirty="0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sz="14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投研尽调</a:t>
            </a:r>
            <a:endParaRPr sz="14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8" y="4023360"/>
            <a:ext cx="32004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D5FF"/>
                </a:solidFill>
                <a:latin typeface="Microsoft YaHei"/>
                <a:ea typeface="Microsoft YaHei"/>
              </a:rPr>
              <a:t>演示入口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8" y="4480560"/>
            <a:ext cx="32004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competition.ithongli.cloud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/login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AI 产品介绍  ·  业务智能体矩阵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11 / 17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68A21B45-5882-089D-9526-20348EFCC5BF}"/>
              </a:ext>
            </a:extLst>
          </p:cNvPr>
          <p:cNvSpPr txBox="1"/>
          <p:nvPr/>
        </p:nvSpPr>
        <p:spPr>
          <a:xfrm>
            <a:off x="2743200" y="32004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/>
                <a:ea typeface="Microsoft YaHei"/>
              </a:rPr>
              <a:t>工作流 </a:t>
            </a:r>
            <a:r>
              <a:rPr lang="en-US" altLang="zh-CN" sz="2200" b="1" dirty="0">
                <a:solidFill>
                  <a:srgbClr val="0F172A"/>
                </a:solidFill>
                <a:latin typeface="Microsoft YaHei"/>
                <a:ea typeface="Microsoft YaHei"/>
              </a:rPr>
              <a:t>&amp; </a:t>
            </a:r>
            <a:r>
              <a:rPr lang="zh-CN" altLang="en-US" sz="2200" b="1" dirty="0">
                <a:solidFill>
                  <a:srgbClr val="0F172A"/>
                </a:solidFill>
                <a:latin typeface="Microsoft YaHei"/>
                <a:ea typeface="Microsoft YaHei"/>
              </a:rPr>
              <a:t>适用团队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DE68A"/>
                </a:solidFill>
                <a:latin typeface="Microsoft YaHei"/>
                <a:ea typeface="Microsoft YaHei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企业问卷 &amp; 合同审核专家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EF3C7"/>
                </a:solidFill>
                <a:latin typeface="Microsoft YaHei"/>
                <a:ea typeface="Microsoft YaHei"/>
              </a:rPr>
              <a:t>企业专用：组织调研 × 合同合规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59848"/>
            <a:ext cx="20116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PART 3 · 问卷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LLM 增强型内部问卷与意见征集平台：模板 → AI 出题 → 多渠道分发 → 答题 → AI 汇总 → Excel 导出全闭环。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Microsoft YaHei"/>
                <a:ea typeface="Microsoft YaHei"/>
              </a:rPr>
              <a:t>AI 出题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流式生成结构化题目
4 个快捷指令全量微调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Microsoft YaHei"/>
                <a:ea typeface="Microsoft YaHei"/>
              </a:rPr>
              <a:t>场景模板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满意度 / 培训 / 制度征集
等 8 份内置模板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002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Microsoft YaHei"/>
                <a:ea typeface="Microsoft YaHei"/>
              </a:rPr>
              <a:t>特殊场景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HR360 · 干部选拔
创意征集互投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4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Microsoft YaHei"/>
                <a:ea typeface="Microsoft YaHei"/>
              </a:rPr>
              <a:t>分发催办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262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用户/部门/角色/全员
企微+邮件+站内消息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74904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Microsoft YaHei"/>
                <a:ea typeface="Microsoft YaHei"/>
              </a:rPr>
              <a:t>答题体验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5262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10+ 题型 + 跳题逻辑
匿名 / 草稿 / 防重复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74904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Microsoft YaHei"/>
                <a:ea typeface="Microsoft YaHei"/>
              </a:rPr>
              <a:t>洞察导出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5262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AI 汇总 + 360 雷达图
异步 Excel 双 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AI 产品介绍  ·  业务智能体矩阵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13 / 17</a:t>
            </a:r>
          </a:p>
        </p:txBody>
      </p:sp>
      <p:sp>
        <p:nvSpPr>
          <p:cNvPr id="27" name="TextBox 4">
            <a:extLst>
              <a:ext uri="{FF2B5EF4-FFF2-40B4-BE49-F238E27FC236}">
                <a16:creationId xmlns:a16="http://schemas.microsoft.com/office/drawing/2014/main" id="{38246EFC-3942-B825-D8BD-7422D922B8E9}"/>
              </a:ext>
            </a:extLst>
          </p:cNvPr>
          <p:cNvSpPr txBox="1"/>
          <p:nvPr/>
        </p:nvSpPr>
        <p:spPr>
          <a:xfrm>
            <a:off x="2743200" y="32004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/>
                <a:ea typeface="Microsoft YaHei"/>
              </a:rPr>
              <a:t>企业问卷调查系统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59848"/>
            <a:ext cx="20116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PART 3 · 问卷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39" y="1097280"/>
            <a:ext cx="7132319" cy="4572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Microsoft YaHei"/>
                <a:ea typeface="Microsoft YaHei"/>
              </a:rPr>
              <a:t>管理员五步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选模板 / 空白建草稿，输入调研主题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AI 流式出题并微调，配置跳题逻辑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按目标分发，设置通知与催办策略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员工 H5 答题（匿名、草稿、防重复）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 看板看完成率 / 分布 / 雷达图 + AI 汇总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8" y="1097280"/>
            <a:ext cx="3657602" cy="4572000"/>
          </a:xfrm>
          <a:prstGeom prst="roundRect">
            <a:avLst>
              <a:gd name="adj" fmla="val 8000"/>
            </a:avLst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17735" y="2103120"/>
            <a:ext cx="3112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99F6E4"/>
                </a:solidFill>
                <a:latin typeface="Microsoft YaHei"/>
                <a:ea typeface="Microsoft YaHei"/>
              </a:rPr>
              <a:t>让员工调研从几周压缩到几天</a:t>
            </a:r>
            <a:r>
              <a:rPr sz="1400" b="1" dirty="0">
                <a:solidFill>
                  <a:srgbClr val="99F6E4"/>
                </a:solidFill>
                <a:latin typeface="Microsoft YaHei"/>
                <a:ea typeface="Microsoft YaHei"/>
              </a:rPr>
              <a:t>——</a:t>
            </a:r>
            <a:r>
              <a:rPr sz="1400" b="1" dirty="0" err="1">
                <a:solidFill>
                  <a:srgbClr val="99F6E4"/>
                </a:solidFill>
                <a:latin typeface="Microsoft YaHei"/>
                <a:ea typeface="Microsoft YaHei"/>
              </a:rPr>
              <a:t>员工放心说、管理层快速看见</a:t>
            </a:r>
            <a:r>
              <a:rPr sz="1400" b="1" dirty="0">
                <a:solidFill>
                  <a:srgbClr val="99F6E4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7735" y="2912922"/>
            <a:ext cx="3112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99F6E4"/>
                </a:solidFill>
                <a:latin typeface="Microsoft YaHei"/>
                <a:ea typeface="Microsoft YaHei"/>
              </a:rPr>
              <a:t>演示入口</a:t>
            </a:r>
            <a:endParaRPr sz="1400" b="1" dirty="0">
              <a:solidFill>
                <a:srgbClr val="99F6E4"/>
              </a:solidFill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17735" y="3282806"/>
            <a:ext cx="311226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questionaire.ithongli.cloud</a:t>
            </a:r>
            <a:endParaRPr sz="13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AI 产品介绍  ·  业务智能体矩阵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14 / 17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C87D2859-20D7-403D-CD6F-C37AB3BC38E7}"/>
              </a:ext>
            </a:extLst>
          </p:cNvPr>
          <p:cNvSpPr txBox="1"/>
          <p:nvPr/>
        </p:nvSpPr>
        <p:spPr>
          <a:xfrm>
            <a:off x="2743200" y="32004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/>
                <a:ea typeface="Microsoft YaHei"/>
              </a:rPr>
              <a:t>完整闭环 </a:t>
            </a:r>
            <a:r>
              <a:rPr lang="en-US" altLang="zh-CN" sz="2200" b="1" dirty="0">
                <a:solidFill>
                  <a:srgbClr val="0F172A"/>
                </a:solidFill>
                <a:latin typeface="Microsoft YaHei"/>
                <a:ea typeface="Microsoft YaHei"/>
              </a:rPr>
              <a:t>&amp; </a:t>
            </a:r>
            <a:r>
              <a:rPr lang="zh-CN" altLang="en-US" sz="2200" b="1" dirty="0">
                <a:solidFill>
                  <a:srgbClr val="0F172A"/>
                </a:solidFill>
                <a:latin typeface="Microsoft YaHei"/>
                <a:ea typeface="Microsoft YaHei"/>
              </a:rPr>
              <a:t>演示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59848"/>
            <a:ext cx="20116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Microsoft YaHei"/>
                <a:ea typeface="Microsoft YaHei"/>
              </a:rPr>
              <a:t>PART 3 · </a:t>
            </a:r>
            <a:r>
              <a:rPr sz="12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合同</a:t>
            </a:r>
            <a:endParaRPr sz="12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上传一份合同（docx），AI 按企业规则库自动出审查报告：条款风险 / 主体风险，高中低严重度分级。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Microsoft YaHei"/>
                <a:ea typeface="Microsoft YaHei"/>
              </a:rPr>
              <a:t>Step 1  合同概览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抽取要素
解析结构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Microsoft YaHei"/>
                <a:ea typeface="Microsoft YaHei"/>
              </a:rPr>
              <a:t>Step 2  审查清单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按启用规则
生成清单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87451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Microsoft YaHei"/>
                <a:ea typeface="Microsoft YaHei"/>
              </a:rPr>
              <a:t>Step 3  审查结果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77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风险列表
严重度 + 定位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11064240" cy="2103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977639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  <a:ea typeface="Microsoft YaHei"/>
              </a:rPr>
              <a:t>•  docx 一键上传与文档预览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  <a:ea typeface="Microsoft YaHei"/>
              </a:rPr>
              <a:t>•  条款风险 / 主体风险双维度自动计数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  <a:ea typeface="Microsoft YaHei"/>
              </a:rPr>
              <a:t>•  高 / 中 / 低 三档严重度，附描述并定位正文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  <a:ea typeface="Microsoft YaHei"/>
              </a:rPr>
              <a:t>•  规则库可视化维护：合同类型、审查立场、审查角度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  <a:ea typeface="Microsoft YaHei"/>
              </a:rPr>
              <a:t>•  数据字典统一管理，把法务标准沉淀为企业资产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AI 产品介绍  ·  业务智能体矩阵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15 / 17</a:t>
            </a: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C944DC16-CBC2-6A08-318C-A02AB4FCA7C1}"/>
              </a:ext>
            </a:extLst>
          </p:cNvPr>
          <p:cNvSpPr txBox="1"/>
          <p:nvPr/>
        </p:nvSpPr>
        <p:spPr>
          <a:xfrm>
            <a:off x="2743200" y="32004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/>
                <a:ea typeface="Microsoft YaHei"/>
              </a:rPr>
              <a:t>合同审核专家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59848"/>
            <a:ext cx="20116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PART 3 · 合同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39" y="1103524"/>
            <a:ext cx="3384383" cy="202526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2770"/>
            <a:ext cx="2917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</a:rPr>
              <a:t>法务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8822"/>
            <a:ext cx="29175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 err="1">
                <a:solidFill>
                  <a:srgbClr val="1E293B"/>
                </a:solidFill>
                <a:latin typeface="Microsoft YaHei"/>
                <a:ea typeface="Microsoft YaHei"/>
              </a:rPr>
              <a:t>逐条风险把关</a:t>
            </a:r>
            <a:r>
              <a:rPr sz="1300" b="0" dirty="0">
                <a:solidFill>
                  <a:srgbClr val="1E293B"/>
                </a:solidFill>
                <a:latin typeface="Microsoft YaHei"/>
                <a:ea typeface="Microsoft YaHei"/>
              </a:rPr>
              <a:t>
</a:t>
            </a:r>
            <a:r>
              <a:rPr sz="1300" b="0" dirty="0" err="1">
                <a:solidFill>
                  <a:srgbClr val="1E293B"/>
                </a:solidFill>
                <a:latin typeface="Microsoft YaHei"/>
                <a:ea typeface="Microsoft YaHei"/>
              </a:rPr>
              <a:t>规则可复用</a:t>
            </a:r>
            <a:endParaRPr sz="1300" b="0" dirty="0">
              <a:solidFill>
                <a:srgbClr val="1E293B"/>
              </a:solidFill>
              <a:latin typeface="Microsoft YaHei"/>
              <a:ea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05135" y="1103524"/>
            <a:ext cx="3384383" cy="202526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8892" y="1372770"/>
            <a:ext cx="2917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</a:rPr>
              <a:t>商务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8892" y="1968822"/>
            <a:ext cx="29175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销售 / 技术合同
快速预审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39" y="3547431"/>
            <a:ext cx="3384383" cy="202526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816677"/>
            <a:ext cx="2917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</a:rPr>
              <a:t>采购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12729"/>
            <a:ext cx="29175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供应商协议
主体风险识别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5135" y="3547431"/>
            <a:ext cx="3384383" cy="202526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58892" y="3806026"/>
            <a:ext cx="2917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 err="1">
                <a:solidFill>
                  <a:srgbClr val="F59E0B"/>
                </a:solidFill>
                <a:latin typeface="Microsoft YaHei"/>
                <a:ea typeface="Microsoft YaHei"/>
              </a:rPr>
              <a:t>合规</a:t>
            </a:r>
            <a:endParaRPr sz="1800" b="1" dirty="0">
              <a:solidFill>
                <a:srgbClr val="F59E0B"/>
              </a:solidFill>
              <a:latin typeface="Microsoft YaHei"/>
              <a:ea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58892" y="4402078"/>
            <a:ext cx="29175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 err="1">
                <a:solidFill>
                  <a:srgbClr val="1E293B"/>
                </a:solidFill>
                <a:latin typeface="Microsoft YaHei"/>
                <a:ea typeface="Microsoft YaHei"/>
              </a:rPr>
              <a:t>审查标准沉淀</a:t>
            </a:r>
            <a:r>
              <a:rPr sz="1300" b="0" dirty="0">
                <a:solidFill>
                  <a:srgbClr val="1E293B"/>
                </a:solidFill>
                <a:latin typeface="Microsoft YaHei"/>
                <a:ea typeface="Microsoft YaHei"/>
              </a:rPr>
              <a:t>
</a:t>
            </a:r>
            <a:r>
              <a:rPr sz="1300" b="0" dirty="0" err="1">
                <a:solidFill>
                  <a:srgbClr val="1E293B"/>
                </a:solidFill>
                <a:latin typeface="Microsoft YaHei"/>
                <a:ea typeface="Microsoft YaHei"/>
              </a:rPr>
              <a:t>可持续更新</a:t>
            </a:r>
            <a:endParaRPr sz="1300" b="0" dirty="0">
              <a:solidFill>
                <a:srgbClr val="1E293B"/>
              </a:solidFill>
              <a:latin typeface="Microsoft YaHei"/>
              <a:ea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AI 产品介绍  ·  业务智能体矩阵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16 / 17</a:t>
            </a:r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2E30F650-A0C1-1F17-8FD7-3A5509839EA9}"/>
              </a:ext>
            </a:extLst>
          </p:cNvPr>
          <p:cNvSpPr txBox="1"/>
          <p:nvPr/>
        </p:nvSpPr>
        <p:spPr>
          <a:xfrm>
            <a:off x="2743200" y="32004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/>
                <a:ea typeface="Microsoft YaHei"/>
              </a:rPr>
              <a:t>适用岗位 </a:t>
            </a:r>
            <a:r>
              <a:rPr lang="en-US" altLang="zh-CN" sz="2200" b="1" dirty="0">
                <a:solidFill>
                  <a:srgbClr val="0F172A"/>
                </a:solidFill>
                <a:latin typeface="Microsoft YaHei"/>
                <a:ea typeface="Microsoft YaHei"/>
              </a:rPr>
              <a:t>&amp; </a:t>
            </a:r>
            <a:r>
              <a:rPr lang="zh-CN" altLang="en-US" sz="2200" b="1" dirty="0">
                <a:solidFill>
                  <a:srgbClr val="0F172A"/>
                </a:solidFill>
                <a:latin typeface="Microsoft YaHei"/>
                <a:ea typeface="Microsoft YaHei"/>
              </a:rPr>
              <a:t>演示入口</a:t>
            </a:r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DA17D6EF-12F0-39B6-FA0B-1D046EE431CF}"/>
              </a:ext>
            </a:extLst>
          </p:cNvPr>
          <p:cNvSpPr/>
          <p:nvPr/>
        </p:nvSpPr>
        <p:spPr>
          <a:xfrm>
            <a:off x="7955278" y="1097280"/>
            <a:ext cx="3657602" cy="4475417"/>
          </a:xfrm>
          <a:prstGeom prst="roundRect">
            <a:avLst>
              <a:gd name="adj" fmla="val 8000"/>
            </a:avLst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373F9001-04D4-E1A9-D8A9-9CE8CF30C8D2}"/>
              </a:ext>
            </a:extLst>
          </p:cNvPr>
          <p:cNvSpPr txBox="1"/>
          <p:nvPr/>
        </p:nvSpPr>
        <p:spPr>
          <a:xfrm>
            <a:off x="8183762" y="1630268"/>
            <a:ext cx="32462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把法务「逐字逐句查风险」沉淀为可复用、可持续更新的企业资产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475E5F22-D9CD-33F1-8947-67B9E3E4C548}"/>
              </a:ext>
            </a:extLst>
          </p:cNvPr>
          <p:cNvSpPr txBox="1"/>
          <p:nvPr/>
        </p:nvSpPr>
        <p:spPr>
          <a:xfrm>
            <a:off x="8183762" y="2912922"/>
            <a:ext cx="32462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EF3C7"/>
                </a:solidFill>
                <a:latin typeface="Microsoft YaHei"/>
                <a:ea typeface="Microsoft YaHei"/>
              </a:rPr>
              <a:t>演示入口</a:t>
            </a:r>
            <a:endParaRPr sz="1400" b="1" dirty="0">
              <a:solidFill>
                <a:srgbClr val="99F6E4"/>
              </a:solidFill>
              <a:latin typeface="Microsoft YaHei"/>
              <a:ea typeface="Microsoft YaHei"/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56008670-C4A1-4DAC-8577-AF21E96DBEC3}"/>
              </a:ext>
            </a:extLst>
          </p:cNvPr>
          <p:cNvSpPr txBox="1"/>
          <p:nvPr/>
        </p:nvSpPr>
        <p:spPr>
          <a:xfrm>
            <a:off x="8183762" y="3282806"/>
            <a:ext cx="32462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b="1" dirty="0">
                <a:solidFill>
                  <a:srgbClr val="FEF3C7"/>
                </a:solidFill>
                <a:latin typeface="Microsoft YaHei"/>
                <a:ea typeface="Microsoft YaHei"/>
              </a:rPr>
              <a:t>https://</a:t>
            </a:r>
            <a:r>
              <a:rPr lang="en" altLang="zh-CN" sz="1400" b="1" dirty="0" err="1">
                <a:solidFill>
                  <a:srgbClr val="FEF3C7"/>
                </a:solidFill>
                <a:latin typeface="Microsoft YaHei"/>
                <a:ea typeface="Microsoft YaHei"/>
              </a:rPr>
              <a:t>qa.ithongli.com</a:t>
            </a:r>
            <a:r>
              <a:rPr lang="en" altLang="zh-CN" sz="1400" b="1" dirty="0">
                <a:solidFill>
                  <a:srgbClr val="FEF3C7"/>
                </a:solidFill>
                <a:latin typeface="Microsoft YaHei"/>
                <a:ea typeface="Microsoft YaHei"/>
              </a:rPr>
              <a:t>/</a:t>
            </a:r>
            <a:r>
              <a:rPr lang="en" altLang="zh-CN" sz="1400" b="1" dirty="0" err="1">
                <a:solidFill>
                  <a:srgbClr val="FEF3C7"/>
                </a:solidFill>
                <a:latin typeface="Microsoft YaHei"/>
                <a:ea typeface="Microsoft YaHei"/>
              </a:rPr>
              <a:t>contractReview</a:t>
            </a:r>
            <a:r>
              <a:rPr lang="en" altLang="zh-CN" sz="1400" b="1" dirty="0">
                <a:solidFill>
                  <a:srgbClr val="FEF3C7"/>
                </a:solidFill>
                <a:latin typeface="Microsoft YaHei"/>
                <a:ea typeface="Microsoft YaHei"/>
              </a:rPr>
              <a:t>/</a:t>
            </a:r>
            <a:endParaRPr sz="13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总结 · 三条产品线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</a:rPr>
              <a:t>服务成交 · 经营洞察 · 组织合规——同一套智能体产品化思路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3716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AI 客服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C 端文旅场景，对话驱动购票与园内服务闭环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154680"/>
            <a:ext cx="13716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ChatBI · 舆情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问数据出图表；扫舆情出报告，服务经营决策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1371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343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问卷 · 合同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6634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内部调研全链路；合同规则库自动审查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D3EE"/>
                </a:solidFill>
                <a:latin typeface="Microsoft YaHei"/>
                <a:ea typeface="Microsoft YaHei"/>
              </a:rPr>
              <a:t>产品展厅：https://ai-desktop.ithongli.cloud/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26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谢谢 · 欢迎现场演示与交流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1004</Words>
  <Application>Microsoft Macintosh PowerPoint</Application>
  <PresentationFormat>宽屏</PresentationFormat>
  <Paragraphs>218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涛 景</cp:lastModifiedBy>
  <cp:revision>4</cp:revision>
  <dcterms:created xsi:type="dcterms:W3CDTF">2013-01-27T09:14:16Z</dcterms:created>
  <dcterms:modified xsi:type="dcterms:W3CDTF">2026-08-17T05:55:19Z</dcterms:modified>
  <cp:category/>
</cp:coreProperties>
</file>